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>
      <p:cViewPr varScale="1">
        <p:scale>
          <a:sx n="66" d="100"/>
          <a:sy n="66" d="100"/>
        </p:scale>
        <p:origin x="64" y="1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93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9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0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19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7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9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33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92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65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961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16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5610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5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740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5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69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2895600"/>
            <a:ext cx="803020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6000" b="1" dirty="0">
                <a:latin typeface="Arial"/>
                <a:cs typeface="Arial"/>
              </a:rPr>
              <a:t>FINAL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71600" y="1618248"/>
            <a:ext cx="3064510" cy="362150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54965" algn="l"/>
              </a:tabLst>
            </a:pPr>
            <a:r>
              <a:rPr lang="en-US" sz="2800" dirty="0">
                <a:latin typeface="Aparajita" panose="020B0502040204020203" pitchFamily="18" charset="0"/>
                <a:cs typeface="Aparajita" panose="020B0502040204020203" pitchFamily="18" charset="0"/>
              </a:rPr>
              <a:t>OUTLINE</a:t>
            </a: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parajita" panose="020B0502040204020203" pitchFamily="18" charset="0"/>
                <a:cs typeface="Aparajita" panose="020B0502040204020203" pitchFamily="18" charset="0"/>
              </a:rPr>
              <a:t>Executive Summary</a:t>
            </a:r>
          </a:p>
          <a:p>
            <a:pPr marL="354965" indent="-342265">
              <a:lnSpc>
                <a:spcPct val="100000"/>
              </a:lnSpc>
              <a:spcBef>
                <a:spcPts val="62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parajita" panose="020B0502040204020203" pitchFamily="18" charset="0"/>
                <a:cs typeface="Aparajita" panose="020B0502040204020203" pitchFamily="18" charset="0"/>
              </a:rPr>
              <a:t>Introduction</a:t>
            </a: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parajita" panose="020B0502040204020203" pitchFamily="18" charset="0"/>
                <a:cs typeface="Aparajita" panose="020B0502040204020203" pitchFamily="18" charset="0"/>
              </a:rPr>
              <a:t>Methodology</a:t>
            </a:r>
          </a:p>
          <a:p>
            <a:pPr marL="354965" indent="-342265">
              <a:lnSpc>
                <a:spcPct val="100000"/>
              </a:lnSpc>
              <a:spcBef>
                <a:spcPts val="65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parajita" panose="020B0502040204020203" pitchFamily="18" charset="0"/>
                <a:cs typeface="Aparajita" panose="020B0502040204020203" pitchFamily="18" charset="0"/>
              </a:rPr>
              <a:t>Results</a:t>
            </a: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parajita" panose="020B0502040204020203" pitchFamily="18" charset="0"/>
                <a:cs typeface="Aparajita" panose="020B0502040204020203" pitchFamily="18" charset="0"/>
              </a:rPr>
              <a:t>Discussion</a:t>
            </a:r>
          </a:p>
          <a:p>
            <a:pPr marL="354965" indent="-342265">
              <a:lnSpc>
                <a:spcPct val="100000"/>
              </a:lnSpc>
              <a:spcBef>
                <a:spcPts val="65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parajita" panose="020B0502040204020203" pitchFamily="18" charset="0"/>
                <a:cs typeface="Aparajita" panose="020B0502040204020203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06955"/>
            <a:ext cx="10217150" cy="410082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0029" marR="5080" indent="-227329">
              <a:lnSpc>
                <a:spcPts val="262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capstone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SpaceX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land 	</a:t>
            </a:r>
            <a:r>
              <a:rPr sz="2400" dirty="0">
                <a:latin typeface="Calibri"/>
                <a:cs typeface="Calibri"/>
              </a:rPr>
              <a:t>successfully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several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classification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algorithms.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include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collection,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wrangling,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formatting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Exploratory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Interactive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visualization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prediction</a:t>
            </a:r>
            <a:endParaRPr sz="2000" dirty="0">
              <a:latin typeface="Calibri"/>
              <a:cs typeface="Calibri"/>
            </a:endParaRPr>
          </a:p>
          <a:p>
            <a:pPr marL="240029" marR="372745" indent="-227329">
              <a:lnSpc>
                <a:spcPts val="26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Our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rocket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correlation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failure.</a:t>
            </a:r>
            <a:endParaRPr sz="2400" dirty="0">
              <a:latin typeface="Calibri"/>
              <a:cs typeface="Calibri"/>
            </a:endParaRPr>
          </a:p>
          <a:p>
            <a:pPr marL="240029" marR="112395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concluded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 	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successfully.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69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Executive Summary</a:t>
            </a:r>
            <a:endParaRPr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77644"/>
            <a:ext cx="10354945" cy="42621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029" marR="5080" indent="-227329">
              <a:lnSpc>
                <a:spcPct val="89600"/>
              </a:lnSpc>
              <a:spcBef>
                <a:spcPts val="4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capstone,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successfully. 	</a:t>
            </a:r>
            <a:r>
              <a:rPr sz="2400" dirty="0">
                <a:latin typeface="Calibri"/>
                <a:cs typeface="Calibri"/>
              </a:rPr>
              <a:t>SpaceX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advertises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rocket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website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62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million 	</a:t>
            </a:r>
            <a:r>
              <a:rPr sz="2400" dirty="0">
                <a:latin typeface="Calibri"/>
                <a:cs typeface="Calibri"/>
              </a:rPr>
              <a:t>dollars;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upward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165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million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dollars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savings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SpaceX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Therefore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determine 	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 	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company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SpaceX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rocket 	launch.</a:t>
            </a:r>
            <a:endParaRPr sz="2400">
              <a:latin typeface="Calibri"/>
              <a:cs typeface="Calibri"/>
            </a:endParaRPr>
          </a:p>
          <a:p>
            <a:pPr marL="240029" marR="838200" indent="-227329">
              <a:lnSpc>
                <a:spcPts val="26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Most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unsuccessful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planned.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Sometimes,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SpaceX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controlled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ocean.</a:t>
            </a:r>
            <a:endParaRPr sz="2400">
              <a:latin typeface="Calibri"/>
              <a:cs typeface="Calibri"/>
            </a:endParaRPr>
          </a:p>
          <a:p>
            <a:pPr marL="240029" marR="13843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answer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 	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rocket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 	</a:t>
            </a:r>
            <a:r>
              <a:rPr sz="2400" dirty="0">
                <a:latin typeface="Calibri"/>
                <a:cs typeface="Calibri"/>
              </a:rPr>
              <a:t>site,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rocket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successfully?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parajita" panose="02020603050405020304" pitchFamily="18" charset="0"/>
                <a:cs typeface="Aparajita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540764"/>
            <a:ext cx="6012815" cy="51409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overall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methodology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includes:</a:t>
            </a:r>
            <a:endParaRPr sz="20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926465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collection,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wrangling,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formatting,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using: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SpaceX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Web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scraping</a:t>
            </a:r>
            <a:endParaRPr sz="18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926465" algn="l"/>
              </a:tabLst>
            </a:pPr>
            <a:r>
              <a:rPr sz="2000" spc="-10" dirty="0">
                <a:latin typeface="Calibri"/>
                <a:cs typeface="Calibri"/>
              </a:rPr>
              <a:t>Exploratory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analysis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(EDA),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using: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Pandas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NumPy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spc="-25" dirty="0">
                <a:latin typeface="Calibri"/>
                <a:cs typeface="Calibri"/>
              </a:rPr>
              <a:t>SQL</a:t>
            </a:r>
            <a:endParaRPr sz="18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259"/>
              </a:spcBef>
              <a:buAutoNum type="arabicPeriod"/>
              <a:tabLst>
                <a:tab pos="926465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visualization,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using: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Matplotlib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Seaborn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spc="-10" dirty="0">
                <a:latin typeface="Calibri"/>
                <a:cs typeface="Calibri"/>
              </a:rPr>
              <a:t>Folium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spc="-20" dirty="0">
                <a:latin typeface="Calibri"/>
                <a:cs typeface="Calibri"/>
              </a:rPr>
              <a:t>Dash</a:t>
            </a:r>
            <a:endParaRPr sz="18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926465" algn="l"/>
              </a:tabLst>
            </a:pP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prediction,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using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Logistic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vector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(SVM)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spc="-30" dirty="0">
                <a:latin typeface="Calibri"/>
                <a:cs typeface="Calibri"/>
              </a:rPr>
              <a:t>K-</a:t>
            </a:r>
            <a:r>
              <a:rPr sz="1800" dirty="0">
                <a:latin typeface="Calibri"/>
                <a:cs typeface="Calibri"/>
              </a:rPr>
              <a:t>nearest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neighbors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(KNN)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71599"/>
            <a:ext cx="10067925" cy="26022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SpaceX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API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API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https://api.spacexdata.com/v4/rockets/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698500" marR="384810" lvl="1" indent="-228600">
              <a:lnSpc>
                <a:spcPts val="2110"/>
              </a:lnSpc>
              <a:spcBef>
                <a:spcPts val="60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API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rocket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SpaceX,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therefore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filtered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Falcon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launches.</a:t>
            </a:r>
            <a:endParaRPr sz="2000">
              <a:latin typeface="Calibri"/>
              <a:cs typeface="Calibri"/>
            </a:endParaRPr>
          </a:p>
          <a:p>
            <a:pPr marL="698500" marR="426084" lvl="1" indent="-228600">
              <a:lnSpc>
                <a:spcPts val="221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replaced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column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 </a:t>
            </a:r>
            <a:r>
              <a:rPr sz="2000" dirty="0">
                <a:latin typeface="Calibri"/>
                <a:cs typeface="Calibri"/>
              </a:rPr>
              <a:t>belongs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to.</a:t>
            </a:r>
            <a:endParaRPr sz="2000">
              <a:latin typeface="Calibri"/>
              <a:cs typeface="Calibri"/>
            </a:endParaRPr>
          </a:p>
          <a:p>
            <a:pPr marL="698500" marR="5080" lvl="1" indent="-228600">
              <a:lnSpc>
                <a:spcPts val="2210"/>
              </a:lnSpc>
              <a:spcBef>
                <a:spcPts val="38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rows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instances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17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columns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features.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picture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below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shows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rows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8" y="128523"/>
            <a:ext cx="41884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55314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collection, wrangling, and formatting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34" y="4553896"/>
            <a:ext cx="12087497" cy="195072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71599"/>
            <a:ext cx="10296525" cy="22574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Web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scraping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ct val="8950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scraped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 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https://en.wikipedia.org/w/index.php?title=List_of_Falcon_9_and_Falcon_Heavy_launches&amp;</a:t>
            </a:r>
            <a:r>
              <a:rPr sz="2000" spc="-10" dirty="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oldid=1027686922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website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Falcon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launches.</a:t>
            </a:r>
            <a:endParaRPr sz="2000">
              <a:latin typeface="Calibri"/>
              <a:cs typeface="Calibri"/>
            </a:endParaRPr>
          </a:p>
          <a:p>
            <a:pPr marL="698500" marR="104139" lvl="1" indent="-228600">
              <a:lnSpc>
                <a:spcPts val="2090"/>
              </a:lnSpc>
              <a:spcBef>
                <a:spcPts val="64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121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rows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instances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11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columns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features.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picture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below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shows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rows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8" y="128523"/>
            <a:ext cx="41122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55314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collection, wrangling, and formatting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36235"/>
            <a:ext cx="12102022" cy="22044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904235"/>
            <a:ext cx="10232390" cy="195516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0029" marR="307975" indent="-227329">
              <a:lnSpc>
                <a:spcPts val="262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categorical 	features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encoded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one-</a:t>
            </a:r>
            <a:r>
              <a:rPr sz="2400" dirty="0">
                <a:latin typeface="Calibri"/>
                <a:cs typeface="Calibri"/>
              </a:rPr>
              <a:t>hot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encoding.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9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‘Class’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‘Class’ 	contains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successful.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83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8" y="128523"/>
            <a:ext cx="41122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553148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collection, wrangling, and formatting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180641"/>
            <a:ext cx="10051415" cy="36969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Pandas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NumPy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210"/>
              </a:lnSpc>
              <a:spcBef>
                <a:spcPts val="439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Pandas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NumPy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libraries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about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collected,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includes: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site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occurrence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orbit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occurrence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outcome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25" dirty="0">
                <a:latin typeface="Calibri"/>
                <a:cs typeface="Calibri"/>
              </a:rPr>
              <a:t>SQL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queried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SQL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answer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several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questions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mission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NASA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(CRS)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F9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v1.1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664836"/>
            <a:ext cx="2182423" cy="8820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7982" y="1593693"/>
            <a:ext cx="2182423" cy="9820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4298" y="3815702"/>
            <a:ext cx="1489791" cy="77991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8" y="128523"/>
            <a:ext cx="40360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77" y="762000"/>
            <a:ext cx="55267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Exploratory Data Analysis (EDA)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38020"/>
            <a:ext cx="10095865" cy="449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Matplotlib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Seaborn</a:t>
            </a:r>
            <a:endParaRPr sz="2400">
              <a:latin typeface="Calibri"/>
              <a:cs typeface="Calibri"/>
            </a:endParaRPr>
          </a:p>
          <a:p>
            <a:pPr marL="698500" marR="95250" lvl="1" indent="-228600">
              <a:lnSpc>
                <a:spcPts val="2020"/>
              </a:lnSpc>
              <a:spcBef>
                <a:spcPts val="40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Matplotlib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Seaborn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libraries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visualize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through scatterplots,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charts,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charts.</a:t>
            </a:r>
            <a:endParaRPr sz="2000">
              <a:latin typeface="Calibri"/>
              <a:cs typeface="Calibri"/>
            </a:endParaRPr>
          </a:p>
          <a:p>
            <a:pPr marL="698500" marR="27940" lvl="1" indent="-228600">
              <a:lnSpc>
                <a:spcPct val="7900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charts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understand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several features,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relationship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flight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launch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site</a:t>
            </a:r>
            <a:endParaRPr sz="19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relationship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payload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mass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launch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site</a:t>
            </a:r>
            <a:endParaRPr sz="19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buFont typeface="Arial MT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relationship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success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orbit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type</a:t>
            </a:r>
            <a:endParaRPr sz="19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Folium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Folium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libraries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visualize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interactive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maps.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•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Folium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library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Mark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map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Mark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succeeded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map</a:t>
            </a:r>
            <a:endParaRPr sz="1800">
              <a:latin typeface="Calibri"/>
              <a:cs typeface="Calibri"/>
            </a:endParaRPr>
          </a:p>
          <a:p>
            <a:pPr marL="1155065" marR="206375" lvl="2" indent="-228600">
              <a:lnSpc>
                <a:spcPct val="78900"/>
              </a:lnSpc>
              <a:spcBef>
                <a:spcPts val="60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Mark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distances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proximities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city,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railway,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highway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0818" y="3906901"/>
            <a:ext cx="2352982" cy="9054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3767" y="1632351"/>
            <a:ext cx="2649792" cy="773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5664" y="1668012"/>
            <a:ext cx="2046032" cy="6195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5016828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77" y="762000"/>
            <a:ext cx="240919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Visualization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668320"/>
            <a:ext cx="10121265" cy="22364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20" dirty="0">
                <a:latin typeface="Calibri"/>
                <a:cs typeface="Calibri"/>
              </a:rPr>
              <a:t>Dash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210"/>
              </a:lnSpc>
              <a:spcBef>
                <a:spcPts val="439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Dash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interactive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toggle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dropdown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slider.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scatterplot,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shows: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site</a:t>
            </a:r>
            <a:endParaRPr sz="1800">
              <a:latin typeface="Calibri"/>
              <a:cs typeface="Calibri"/>
            </a:endParaRPr>
          </a:p>
          <a:p>
            <a:pPr marL="1155065" marR="52705" lvl="2" indent="-228600">
              <a:lnSpc>
                <a:spcPts val="1920"/>
              </a:lnSpc>
              <a:spcBef>
                <a:spcPts val="60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correlation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(success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launch </a:t>
            </a:r>
            <a:r>
              <a:rPr sz="1800" spc="-20" dirty="0">
                <a:latin typeface="Calibri"/>
                <a:cs typeface="Calibri"/>
              </a:rPr>
              <a:t>site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12192000" cy="3457575"/>
            <a:chOff x="0" y="-1"/>
            <a:chExt cx="12192000" cy="3457575"/>
          </a:xfrm>
        </p:grpSpPr>
        <p:sp>
          <p:nvSpPr>
            <p:cNvPr id="4" name="object 4"/>
            <p:cNvSpPr/>
            <p:nvPr/>
          </p:nvSpPr>
          <p:spPr>
            <a:xfrm>
              <a:off x="0" y="-1"/>
              <a:ext cx="12192000" cy="1499870"/>
            </a:xfrm>
            <a:custGeom>
              <a:avLst/>
              <a:gdLst/>
              <a:ahLst/>
              <a:cxnLst/>
              <a:rect l="l" t="t" r="r" b="b"/>
              <a:pathLst>
                <a:path w="12192000" h="1499870">
                  <a:moveTo>
                    <a:pt x="12192000" y="0"/>
                  </a:moveTo>
                  <a:lnTo>
                    <a:pt x="0" y="0"/>
                  </a:lnTo>
                  <a:lnTo>
                    <a:pt x="0" y="1499617"/>
                  </a:lnTo>
                  <a:lnTo>
                    <a:pt x="12192000" y="149961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3370" y="1306219"/>
              <a:ext cx="2150807" cy="21508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8" y="128523"/>
            <a:ext cx="42646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83677" y="762000"/>
            <a:ext cx="240919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Visualization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16684"/>
            <a:ext cx="9902190" cy="44443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Functions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Scikit-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 	models.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steps: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Standardizing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Splitting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Creating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include: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Logistic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vector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(SVM)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5065" algn="l"/>
              </a:tabLst>
            </a:pPr>
            <a:r>
              <a:rPr sz="1800" dirty="0">
                <a:latin typeface="Calibri"/>
                <a:cs typeface="Calibri"/>
              </a:rPr>
              <a:t>K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nearest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neighbors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(KNN)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Fit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Find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hyperparameters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Evaluate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accuracy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confusion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matrix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4494" y="2542308"/>
            <a:ext cx="1876732" cy="10102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8" y="128523"/>
            <a:ext cx="38074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METHODOLOGY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3676" y="762000"/>
            <a:ext cx="46123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Machine Learning Prediction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454351"/>
            <a:ext cx="10033000" cy="28924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split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sections: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SQL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SQL)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Matplotlib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Seaborn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(EDA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Visualization)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Folium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20" dirty="0">
                <a:latin typeface="Calibri"/>
                <a:cs typeface="Calibri"/>
              </a:rPr>
              <a:t>Dash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Predictive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240029" marR="5080" indent="-227329">
              <a:lnSpc>
                <a:spcPts val="2500"/>
              </a:lnSpc>
              <a:spcBef>
                <a:spcPts val="1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follow,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while 	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outcome.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7425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unique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mission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160011"/>
            <a:ext cx="5853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5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begin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‘CCA’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8930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3676" y="762000"/>
            <a:ext cx="4459924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SQL (EDA with SQL)</a:t>
            </a:r>
            <a:endParaRPr sz="29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786" y="2542867"/>
            <a:ext cx="1320799" cy="1371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17" y="4866340"/>
            <a:ext cx="12108935" cy="14028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062988"/>
            <a:ext cx="8574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boosters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NASA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(CRS)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3422395"/>
            <a:ext cx="7733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average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booster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F9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v1.1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793995"/>
            <a:ext cx="10097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achieved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9692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83676" y="762000"/>
            <a:ext cx="40027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SQL (EDA with SQL)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2986" y="2757139"/>
            <a:ext cx="2793999" cy="558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986" y="4120291"/>
            <a:ext cx="3809999" cy="558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9336" y="5524690"/>
            <a:ext cx="4159249" cy="5524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86788"/>
            <a:ext cx="991362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boosters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payload 	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4000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6000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589779"/>
            <a:ext cx="7735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failure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outcomes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1216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3676" y="762000"/>
            <a:ext cx="35455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SQL (EDA with SQL)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786" y="2890491"/>
            <a:ext cx="1371599" cy="1320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986" y="5278463"/>
            <a:ext cx="4775199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974280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booster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versions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payload 	</a:t>
            </a:r>
            <a:r>
              <a:rPr sz="2400" spc="-20" dirty="0">
                <a:latin typeface="Calibri"/>
                <a:cs typeface="Calibri"/>
              </a:rPr>
              <a:t>mass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7406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6" y="762000"/>
            <a:ext cx="49171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SQL (EDA with SQL)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186" y="2607168"/>
            <a:ext cx="1511299" cy="39496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1027049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ship,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booster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versions,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site 	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2015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3574795"/>
            <a:ext cx="1022858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2010-06-</a:t>
            </a:r>
            <a:r>
              <a:rPr sz="2400" dirty="0">
                <a:latin typeface="Calibri"/>
                <a:cs typeface="Calibri"/>
              </a:rPr>
              <a:t>04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2017-03-</a:t>
            </a:r>
            <a:r>
              <a:rPr sz="2400" dirty="0">
                <a:latin typeface="Calibri"/>
                <a:cs typeface="Calibri"/>
              </a:rPr>
              <a:t>20,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descending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order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2740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83676" y="762000"/>
            <a:ext cx="40789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SQL (EDA with SQL)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186" y="2678319"/>
            <a:ext cx="3562045" cy="10090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6947" y="4359024"/>
            <a:ext cx="2262981" cy="23823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7105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5026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78889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Matplotlib and Seaborn (EDA with Visualization)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486" y="2562556"/>
            <a:ext cx="7513179" cy="40611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7089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7406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69745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Matplotlib and Seaborn (EDA with Visualization)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350" y="2433643"/>
            <a:ext cx="7613564" cy="411543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6793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4358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8908891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Matplotlib and Seaborn (EDA with Visualization)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3129" y="2550505"/>
            <a:ext cx="5714960" cy="38296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6990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8168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10302356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Matplotlib and Seaborn (EDA with Visualization)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103" y="2522343"/>
            <a:ext cx="7344278" cy="41595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697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8930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  <a:endParaRPr sz="46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10581049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Matplotlib and Seaborn (EDA with Visualization)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7032" y="2484941"/>
            <a:ext cx="7304213" cy="41368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4165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1216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  <a:endParaRPr sz="46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11417128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Matplotlib and Seaborn (EDA with Visualization)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7561" y="2448605"/>
            <a:ext cx="7101611" cy="41995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309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472417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179292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Folium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8792" y="2499950"/>
            <a:ext cx="7654413" cy="39112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54504"/>
            <a:ext cx="9574530" cy="10350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succeeded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map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210"/>
              </a:lnSpc>
              <a:spcBef>
                <a:spcPts val="439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zoom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tags.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tag </a:t>
            </a:r>
            <a:r>
              <a:rPr sz="2000" spc="-10" dirty="0">
                <a:latin typeface="Calibri"/>
                <a:cs typeface="Calibri"/>
              </a:rPr>
              <a:t>represents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successful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launch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2740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  <a:endParaRPr sz="46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1690505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Folium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8463" y="3011520"/>
            <a:ext cx="8495070" cy="35453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10162540" cy="13322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31559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distances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proximities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nearest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city, 	</a:t>
            </a:r>
            <a:r>
              <a:rPr sz="2400" spc="-35" dirty="0">
                <a:latin typeface="Calibri"/>
                <a:cs typeface="Calibri"/>
              </a:rPr>
              <a:t>railway,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highway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180"/>
              </a:lnSpc>
              <a:spcBef>
                <a:spcPts val="45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picture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below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distance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VAFB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SLC-</a:t>
            </a:r>
            <a:r>
              <a:rPr sz="2000" dirty="0">
                <a:latin typeface="Calibri"/>
                <a:cs typeface="Calibri"/>
              </a:rPr>
              <a:t>4E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nearest coastline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40360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2083951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Folium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708" y="3375605"/>
            <a:ext cx="6120580" cy="334965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4763"/>
            <a:ext cx="10092055" cy="125730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picture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CCAFS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LC-</a:t>
            </a:r>
            <a:r>
              <a:rPr sz="2400" dirty="0">
                <a:latin typeface="Calibri"/>
                <a:cs typeface="Calibri"/>
              </a:rPr>
              <a:t>40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chosen.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00"/>
              </a:lnSpc>
              <a:spcBef>
                <a:spcPts val="11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0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see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73.1%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CCAFS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LC-</a:t>
            </a:r>
            <a:r>
              <a:rPr sz="2400" dirty="0">
                <a:latin typeface="Calibri"/>
                <a:cs typeface="Calibri"/>
              </a:rPr>
              <a:t>40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4264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1318947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Dash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106" y="3154209"/>
            <a:ext cx="8677786" cy="353449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86203"/>
            <a:ext cx="10097770" cy="11658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scatterplot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2000kg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8000kg.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35026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  <a:endParaRPr sz="46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1348278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Dash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7150" y="3342170"/>
            <a:ext cx="9341426" cy="33830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171068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205" dirty="0"/>
              <a:t>RESULTS</a:t>
            </a:r>
            <a:endParaRPr sz="4600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Logistic</a:t>
            </a:r>
            <a:r>
              <a:rPr spc="-90" dirty="0"/>
              <a:t> </a:t>
            </a:r>
            <a:r>
              <a:rPr spc="-10" dirty="0"/>
              <a:t>regression</a:t>
            </a: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GridSearchCV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0.8464285714285713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Accuracy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0.8333333333333334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Confusion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matrix: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24498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Predictive Analysis</a:t>
            </a:r>
            <a:endParaRPr sz="29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800" y="3064368"/>
            <a:ext cx="4470400" cy="34035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171068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205" dirty="0"/>
              <a:t>RESULTS</a:t>
            </a:r>
            <a:endParaRPr sz="4600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Support</a:t>
            </a:r>
            <a:r>
              <a:rPr spc="-80" dirty="0"/>
              <a:t> </a:t>
            </a:r>
            <a:r>
              <a:rPr dirty="0"/>
              <a:t>vector</a:t>
            </a:r>
            <a:r>
              <a:rPr spc="-70" dirty="0"/>
              <a:t> </a:t>
            </a:r>
            <a:r>
              <a:rPr dirty="0"/>
              <a:t>machine</a:t>
            </a:r>
            <a:r>
              <a:rPr spc="-70" dirty="0"/>
              <a:t> </a:t>
            </a:r>
            <a:r>
              <a:rPr spc="-10" dirty="0"/>
              <a:t>(SVM)</a:t>
            </a: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GridSearchCV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0.8482142857142856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Accuracy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0.8333333333333334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Confusion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matrix: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24498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Predictive Analysis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800" y="3064368"/>
            <a:ext cx="4470400" cy="340359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171068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205" dirty="0"/>
              <a:t>RESULTS</a:t>
            </a:r>
            <a:endParaRPr sz="4600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Decision</a:t>
            </a:r>
            <a:r>
              <a:rPr spc="-65" dirty="0"/>
              <a:t> </a:t>
            </a:r>
            <a:r>
              <a:rPr spc="-20" dirty="0"/>
              <a:t>tree</a:t>
            </a: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GridSearchCV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0.8892857142857142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Accuracy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0.8333333333333334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Confusion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matrix: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24498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Predictive Analysis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800" y="3064368"/>
            <a:ext cx="4470400" cy="34035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171068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205" dirty="0"/>
              <a:t>RESULTS</a:t>
            </a:r>
            <a:endParaRPr sz="4600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K</a:t>
            </a:r>
            <a:r>
              <a:rPr spc="-80" dirty="0"/>
              <a:t> </a:t>
            </a:r>
            <a:r>
              <a:rPr dirty="0"/>
              <a:t>nearest</a:t>
            </a:r>
            <a:r>
              <a:rPr spc="-85" dirty="0"/>
              <a:t> </a:t>
            </a:r>
            <a:r>
              <a:rPr dirty="0"/>
              <a:t>neighbors</a:t>
            </a:r>
            <a:r>
              <a:rPr spc="-85" dirty="0"/>
              <a:t> </a:t>
            </a:r>
            <a:r>
              <a:rPr spc="-20" dirty="0"/>
              <a:t>(KNN)</a:t>
            </a: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GridSearchCV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0.8482142857142858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Accuracy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0.8333333333333334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Confusion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matrix: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24498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Predictive Analysis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800" y="3064368"/>
            <a:ext cx="4470400" cy="34035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358644"/>
            <a:ext cx="10178415" cy="31038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Putting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side,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accuracy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confusion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matrix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set.</a:t>
            </a:r>
            <a:endParaRPr sz="2400">
              <a:latin typeface="Calibri"/>
              <a:cs typeface="Calibri"/>
            </a:endParaRPr>
          </a:p>
          <a:p>
            <a:pPr marL="240029" marR="117475" indent="-227329">
              <a:lnSpc>
                <a:spcPts val="2590"/>
              </a:lnSpc>
              <a:spcBef>
                <a:spcPts val="9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Therefore,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GridSearchCV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instead.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Based 	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GridSearchCV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ranked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worst: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812165" algn="l"/>
              </a:tabLst>
            </a:pP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(GridSearchCV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score: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0.8892857142857142)</a:t>
            </a:r>
            <a:endParaRPr sz="1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nearest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neighbors,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(GridSearchCV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score: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0.8482142857142858)</a:t>
            </a:r>
            <a:endParaRPr sz="1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vector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SVM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(GridSearchCV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score: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0.8482142857142856)</a:t>
            </a:r>
            <a:endParaRPr sz="1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812165" algn="l"/>
              </a:tabLst>
            </a:pPr>
            <a:r>
              <a:rPr sz="1800" dirty="0">
                <a:latin typeface="Calibri"/>
                <a:cs typeface="Calibri"/>
              </a:rPr>
              <a:t>Logistic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(GridSearchCV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score: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0.8464285714285713)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128523"/>
            <a:ext cx="2816861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  <a:endParaRPr sz="46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3677" y="762000"/>
            <a:ext cx="4033948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solidFill>
                  <a:srgbClr val="FFFF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Predictive Analysis</a:t>
            </a:r>
            <a:endParaRPr sz="290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6186" y="818310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00"/>
                </a:moveTo>
                <a:lnTo>
                  <a:pt x="5704" y="166473"/>
                </a:lnTo>
                <a:lnTo>
                  <a:pt x="21954" y="121008"/>
                </a:lnTo>
                <a:lnTo>
                  <a:pt x="47452" y="80903"/>
                </a:lnTo>
                <a:lnTo>
                  <a:pt x="80903" y="47452"/>
                </a:lnTo>
                <a:lnTo>
                  <a:pt x="121008" y="21954"/>
                </a:lnTo>
                <a:lnTo>
                  <a:pt x="166473" y="5704"/>
                </a:lnTo>
                <a:lnTo>
                  <a:pt x="216000" y="0"/>
                </a:lnTo>
                <a:lnTo>
                  <a:pt x="265526" y="5704"/>
                </a:lnTo>
                <a:lnTo>
                  <a:pt x="310991" y="21954"/>
                </a:lnTo>
                <a:lnTo>
                  <a:pt x="351096" y="47452"/>
                </a:lnTo>
                <a:lnTo>
                  <a:pt x="384547" y="80903"/>
                </a:lnTo>
                <a:lnTo>
                  <a:pt x="410045" y="121008"/>
                </a:lnTo>
                <a:lnTo>
                  <a:pt x="426295" y="166473"/>
                </a:lnTo>
                <a:lnTo>
                  <a:pt x="432000" y="216000"/>
                </a:lnTo>
                <a:lnTo>
                  <a:pt x="426295" y="265526"/>
                </a:lnTo>
                <a:lnTo>
                  <a:pt x="410045" y="310991"/>
                </a:lnTo>
                <a:lnTo>
                  <a:pt x="384547" y="351096"/>
                </a:lnTo>
                <a:lnTo>
                  <a:pt x="351096" y="384547"/>
                </a:lnTo>
                <a:lnTo>
                  <a:pt x="310991" y="410045"/>
                </a:lnTo>
                <a:lnTo>
                  <a:pt x="265526" y="426295"/>
                </a:lnTo>
                <a:lnTo>
                  <a:pt x="216000" y="432000"/>
                </a:lnTo>
                <a:lnTo>
                  <a:pt x="166473" y="426295"/>
                </a:lnTo>
                <a:lnTo>
                  <a:pt x="121008" y="410045"/>
                </a:lnTo>
                <a:lnTo>
                  <a:pt x="80903" y="384547"/>
                </a:lnTo>
                <a:lnTo>
                  <a:pt x="47452" y="351096"/>
                </a:lnTo>
                <a:lnTo>
                  <a:pt x="21954" y="310991"/>
                </a:lnTo>
                <a:lnTo>
                  <a:pt x="5704" y="265526"/>
                </a:lnTo>
                <a:lnTo>
                  <a:pt x="0" y="2160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1541" y="87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108708"/>
            <a:ext cx="10213340" cy="38080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0029" marR="156845" indent="-227329">
              <a:lnSpc>
                <a:spcPct val="89700"/>
              </a:lnSpc>
              <a:spcBef>
                <a:spcPts val="3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section,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	</a:t>
            </a:r>
            <a:r>
              <a:rPr sz="2400" spc="-10" dirty="0">
                <a:latin typeface="Calibri"/>
                <a:cs typeface="Calibri"/>
              </a:rPr>
              <a:t>correlation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several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ways.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heavy 	</a:t>
            </a:r>
            <a:r>
              <a:rPr sz="2400" dirty="0">
                <a:latin typeface="Calibri"/>
                <a:cs typeface="Calibri"/>
              </a:rPr>
              <a:t>payloads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types 	</a:t>
            </a:r>
            <a:r>
              <a:rPr sz="2400" spc="-35" dirty="0">
                <a:latin typeface="Calibri"/>
                <a:cs typeface="Calibri"/>
              </a:rPr>
              <a:t>Polar,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GTO,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distinguish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both 	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negative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landing(unsuccessful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 	here.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2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Therefore,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certain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impact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outcome.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exact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impact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difficult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decipher.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parajita" panose="02020603050405020304" pitchFamily="18" charset="0"/>
                <a:cs typeface="Aparajita" panose="02020603050405020304" pitchFamily="18" charset="0"/>
              </a:rPr>
              <a:t>DISCUSSION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300732"/>
            <a:ext cx="10348595" cy="33997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47561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Falcon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will 	</a:t>
            </a:r>
            <a:r>
              <a:rPr sz="2400" dirty="0">
                <a:latin typeface="Calibri"/>
                <a:cs typeface="Calibri"/>
              </a:rPr>
              <a:t>land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launch.</a:t>
            </a:r>
            <a:endParaRPr sz="2400">
              <a:latin typeface="Calibri"/>
              <a:cs typeface="Calibri"/>
            </a:endParaRPr>
          </a:p>
          <a:p>
            <a:pPr marL="240029" marR="606425" indent="-227329">
              <a:lnSpc>
                <a:spcPts val="2590"/>
              </a:lnSpc>
              <a:spcBef>
                <a:spcPts val="9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may 	</a:t>
            </a:r>
            <a:r>
              <a:rPr sz="2400" spc="-10" dirty="0">
                <a:latin typeface="Calibri"/>
                <a:cs typeface="Calibri"/>
              </a:rPr>
              <a:t>affect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certain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way.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4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Several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past 	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launch.</a:t>
            </a:r>
            <a:endParaRPr sz="2400">
              <a:latin typeface="Calibri"/>
              <a:cs typeface="Calibri"/>
            </a:endParaRPr>
          </a:p>
          <a:p>
            <a:pPr marL="240029" marR="453390" indent="-227329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best 	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employed.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-1"/>
            <a:ext cx="12192000" cy="1499870"/>
          </a:xfrm>
          <a:custGeom>
            <a:avLst/>
            <a:gdLst/>
            <a:ahLst/>
            <a:cxnLst/>
            <a:rect l="l" t="t" r="r" b="b"/>
            <a:pathLst>
              <a:path w="12192000" h="1499870">
                <a:moveTo>
                  <a:pt x="12192000" y="0"/>
                </a:moveTo>
                <a:lnTo>
                  <a:pt x="0" y="0"/>
                </a:lnTo>
                <a:lnTo>
                  <a:pt x="0" y="1499617"/>
                </a:lnTo>
                <a:lnTo>
                  <a:pt x="12192000" y="1499617"/>
                </a:lnTo>
                <a:lnTo>
                  <a:pt x="12192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parajita" panose="02020603050405020304" pitchFamily="18" charset="0"/>
                <a:cs typeface="Aparajita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2021</Words>
  <Application>Microsoft Office PowerPoint</Application>
  <PresentationFormat>Widescreen</PresentationFormat>
  <Paragraphs>236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Aparajita</vt:lpstr>
      <vt:lpstr>Arial</vt:lpstr>
      <vt:lpstr>Arial MT</vt:lpstr>
      <vt:lpstr>Calibri</vt:lpstr>
      <vt:lpstr>Trebuchet MS</vt:lpstr>
      <vt:lpstr>Wingdings 3</vt:lpstr>
      <vt:lpstr>Facet</vt:lpstr>
      <vt:lpstr>PowerPoint Presentation</vt:lpstr>
      <vt:lpstr>PowerPoint Presentation</vt:lpstr>
      <vt:lpstr>Executive Summary</vt:lpstr>
      <vt:lpstr>INTRODUCTION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DISCUSSION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Patil, Sarvesh Prakash</cp:lastModifiedBy>
  <cp:revision>1</cp:revision>
  <dcterms:created xsi:type="dcterms:W3CDTF">2025-11-28T14:48:45Z</dcterms:created>
  <dcterms:modified xsi:type="dcterms:W3CDTF">2025-11-28T15:04:49Z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2022-01-04T00:00:00Z</vt:filetime>
  </property>
  <property fmtid="{D5CDD505-2E9C-101B-9397-08002B2CF9AE}" pid="3" name="LastSaved">
    <vt:filetime>2025-11-28T00:00:00Z</vt:filetime>
  </property>
  <property fmtid="{D5CDD505-2E9C-101B-9397-08002B2CF9AE}" pid="4" name="Producer">
    <vt:lpwstr>macOS Version 12.1 (Build 21C52) Quartz PDFContext</vt:lpwstr>
  </property>
</Properties>
</file>